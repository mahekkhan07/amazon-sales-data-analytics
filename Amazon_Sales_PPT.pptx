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3" r:id="rId5"/>
    <p:sldId id="260" r:id="rId6"/>
    <p:sldId id="261" r:id="rId7"/>
    <p:sldId id="264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65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67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7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5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2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7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1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5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4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0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27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8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F7E1B3-4A55-4737-8E5E-A3EE15B6BDD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0E59A0F-E2D4-46E4-A666-B2FC5199B87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31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28FE-90BA-4B6B-BF66-8EBD7E248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730" y="1559859"/>
            <a:ext cx="11385176" cy="2814916"/>
          </a:xfrm>
        </p:spPr>
        <p:txBody>
          <a:bodyPr>
            <a:normAutofit/>
          </a:bodyPr>
          <a:lstStyle/>
          <a:p>
            <a:pPr algn="ctr"/>
            <a:r>
              <a:rPr lang="en-US" sz="4900" b="1" dirty="0">
                <a:cs typeface="Arial" panose="020B0604020202020204" pitchFamily="34" charset="0"/>
              </a:rPr>
              <a:t>Amazon Sales Performance </a:t>
            </a:r>
            <a:br>
              <a:rPr lang="en-US" sz="4900" b="1" dirty="0">
                <a:cs typeface="Arial" panose="020B0604020202020204" pitchFamily="34" charset="0"/>
              </a:rPr>
            </a:br>
            <a:r>
              <a:rPr lang="en-US" sz="4900" b="1" dirty="0">
                <a:cs typeface="Arial" panose="020B0604020202020204" pitchFamily="34" charset="0"/>
              </a:rPr>
              <a:t>&amp; Data Analytics Project</a:t>
            </a:r>
            <a:br>
              <a:rPr lang="en-US" sz="4900" b="1" dirty="0">
                <a:cs typeface="Arial" panose="020B0604020202020204" pitchFamily="34" charset="0"/>
              </a:rPr>
            </a:br>
            <a:endParaRPr lang="en-US" b="1" dirty="0"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EEEAF-C893-46AE-B4F6-49A7A870D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6472" y="4652681"/>
            <a:ext cx="10811433" cy="1434353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Arial" panose="020B0604020202020204" pitchFamily="34" charset="0"/>
              </a:rPr>
              <a:t>Created By: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Arial" panose="020B0604020202020204" pitchFamily="34" charset="0"/>
              </a:rPr>
              <a:t>Mahek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Arial" panose="020B0604020202020204" pitchFamily="34" charset="0"/>
              </a:rPr>
              <a:t> Khan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Arial" panose="020B0604020202020204" pitchFamily="34" charset="0"/>
              </a:rPr>
              <a:t>Domain: E-Commerce Analytics | Data Analysis | Business Intelligence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447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6DA22FD-8772-4D23-9AE5-3442400F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cs typeface="Arial" panose="020B0604020202020204" pitchFamily="34" charset="0"/>
              </a:rPr>
              <a:t>INTRODUCTION</a:t>
            </a:r>
            <a:endParaRPr lang="en-US" sz="36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749518C-58EB-43D3-8B06-E017ABB3D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- Amazon generates a massive volume of sales data through daily online transactions.</a:t>
            </a:r>
          </a:p>
          <a:p>
            <a:r>
              <a:rPr lang="en-US" dirty="0">
                <a:cs typeface="Arial" panose="020B0604020202020204" pitchFamily="34" charset="0"/>
              </a:rPr>
              <a:t>- Analyzing this data helps businesses understand customer buying behavior, revenue trends, and product demand.</a:t>
            </a:r>
          </a:p>
          <a:p>
            <a:r>
              <a:rPr lang="en-US" dirty="0">
                <a:cs typeface="Arial" panose="020B0604020202020204" pitchFamily="34" charset="0"/>
              </a:rPr>
              <a:t>- This project demonstrates data cleaning, preprocessing, and visualization using real e-commerce data.</a:t>
            </a:r>
          </a:p>
          <a:p>
            <a:r>
              <a:rPr lang="en-US" dirty="0">
                <a:cs typeface="Arial" panose="020B0604020202020204" pitchFamily="34" charset="0"/>
              </a:rPr>
              <a:t>- Insights derived from this project can assist in improving sales strategy, operational efficiency, and customer satisfaction.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645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3B0C11-965D-4CBD-8D44-0767E9BC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C048A-4398-40C3-B51E-B108AFB72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- To understand sales performance using real transaction data</a:t>
            </a:r>
          </a:p>
          <a:p>
            <a:r>
              <a:rPr lang="en-US" dirty="0">
                <a:cs typeface="Arial" panose="020B0604020202020204" pitchFamily="34" charset="0"/>
              </a:rPr>
              <a:t>- To identify top-performing states, cities, and product categories</a:t>
            </a:r>
          </a:p>
          <a:p>
            <a:r>
              <a:rPr lang="en-US" dirty="0">
                <a:cs typeface="Arial" panose="020B0604020202020204" pitchFamily="34" charset="0"/>
              </a:rPr>
              <a:t>- To analyze revenue trends and order distribution</a:t>
            </a:r>
          </a:p>
          <a:p>
            <a:r>
              <a:rPr lang="en-US" dirty="0">
                <a:cs typeface="Arial" panose="020B0604020202020204" pitchFamily="34" charset="0"/>
              </a:rPr>
              <a:t>- To compare Amazon-fulfilled and Merchant-fulfilled orders</a:t>
            </a:r>
          </a:p>
          <a:p>
            <a:r>
              <a:rPr lang="en-US" dirty="0">
                <a:cs typeface="Arial" panose="020B0604020202020204" pitchFamily="34" charset="0"/>
              </a:rPr>
              <a:t>- To detect missing values and perform proper data cleaning</a:t>
            </a:r>
          </a:p>
          <a:p>
            <a:r>
              <a:rPr lang="en-US" dirty="0">
                <a:cs typeface="Arial" panose="020B0604020202020204" pitchFamily="34" charset="0"/>
              </a:rPr>
              <a:t>- To derive key business insights through 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1071132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041D1-7187-4D14-A1D0-B77D015E1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cs typeface="Arial" panose="020B0604020202020204" pitchFamily="34" charset="0"/>
              </a:rPr>
              <a:t>Skills &amp; Tools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6D563-85F7-48B3-8543-509879210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1. Python</a:t>
            </a:r>
          </a:p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2. Pandas</a:t>
            </a:r>
          </a:p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3. NumPy</a:t>
            </a:r>
          </a:p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4. Matplotlib</a:t>
            </a:r>
          </a:p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5. Seaborn</a:t>
            </a:r>
          </a:p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6. Data Cleaning</a:t>
            </a:r>
          </a:p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7. Exploratory Data Analysis (EDA)</a:t>
            </a:r>
          </a:p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8. Data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15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71BE-E4DF-4802-B2B8-ED8F7F3B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cs typeface="Arial" panose="020B0604020202020204" pitchFamily="34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3A88F-D4C0-4266-8DFA-842F38A03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- Dataset Name: Amazon Sales Report Dataset</a:t>
            </a:r>
          </a:p>
          <a:p>
            <a:r>
              <a:rPr lang="en-US" dirty="0">
                <a:cs typeface="Arial" panose="020B0604020202020204" pitchFamily="34" charset="0"/>
              </a:rPr>
              <a:t>- Records: 128,975</a:t>
            </a:r>
          </a:p>
          <a:p>
            <a:r>
              <a:rPr lang="en-US" dirty="0">
                <a:cs typeface="Arial" panose="020B0604020202020204" pitchFamily="34" charset="0"/>
              </a:rPr>
              <a:t>- Features (Columns): 24</a:t>
            </a:r>
          </a:p>
          <a:p>
            <a:r>
              <a:rPr lang="en-US" dirty="0">
                <a:cs typeface="Arial" panose="020B0604020202020204" pitchFamily="34" charset="0"/>
              </a:rPr>
              <a:t>- Target Variable / Key Metric: Amount (Order Value in INR)</a:t>
            </a:r>
          </a:p>
          <a:p>
            <a:r>
              <a:rPr lang="en-US" b="1" dirty="0">
                <a:cs typeface="Arial" panose="020B0604020202020204" pitchFamily="34" charset="0"/>
              </a:rPr>
              <a:t>Description:</a:t>
            </a:r>
            <a:endParaRPr lang="en-US" dirty="0">
              <a:cs typeface="Arial" panose="020B0604020202020204" pitchFamily="34" charset="0"/>
            </a:endParaRPr>
          </a:p>
          <a:p>
            <a:r>
              <a:rPr lang="en-US" dirty="0">
                <a:cs typeface="Arial" panose="020B0604020202020204" pitchFamily="34" charset="0"/>
              </a:rPr>
              <a:t>- The dataset used in this project is the Amazon Sales Report dataset.</a:t>
            </a:r>
          </a:p>
          <a:p>
            <a:r>
              <a:rPr lang="en-US" dirty="0">
                <a:cs typeface="Arial" panose="020B0604020202020204" pitchFamily="34" charset="0"/>
              </a:rPr>
              <a:t>- It contains multiple transaction records with details such as Order ID, Order Status, Sales Amount, Shipping Details, Fulfillment Method, etc.</a:t>
            </a:r>
          </a:p>
          <a:p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58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F327-F2DB-4BCD-A072-84A070D09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cs typeface="Arial" panose="020B0604020202020204" pitchFamily="34" charset="0"/>
              </a:rPr>
              <a:t>Key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AD69E-85BE-4D26-A6BE-DBC489970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- Order Details: Order ID, Date, Status</a:t>
            </a:r>
          </a:p>
          <a:p>
            <a:r>
              <a:rPr lang="en-US" dirty="0">
                <a:cs typeface="Arial" panose="020B0604020202020204" pitchFamily="34" charset="0"/>
              </a:rPr>
              <a:t>- Fulfillment &amp; Sales: Fulfilment type (Amazon/Merchant), Sales Channel, Amount, Currency</a:t>
            </a:r>
          </a:p>
          <a:p>
            <a:r>
              <a:rPr lang="en-US" dirty="0">
                <a:cs typeface="Arial" panose="020B0604020202020204" pitchFamily="34" charset="0"/>
              </a:rPr>
              <a:t>- Shipping Info: Ship-city, Ship-state, Ship-postal-code, Ship-country, Ship service level</a:t>
            </a:r>
          </a:p>
          <a:p>
            <a:r>
              <a:rPr lang="en-US" dirty="0">
                <a:cs typeface="Arial" panose="020B0604020202020204" pitchFamily="34" charset="0"/>
              </a:rPr>
              <a:t>- Product Info: Style, SKU, Category, Promotion IDs</a:t>
            </a:r>
          </a:p>
          <a:p>
            <a:r>
              <a:rPr lang="en-US" dirty="0">
                <a:cs typeface="Arial" panose="020B0604020202020204" pitchFamily="34" charset="0"/>
              </a:rPr>
              <a:t>- Customer &amp; Business: B2B or Retail, Fulfilled by</a:t>
            </a:r>
          </a:p>
          <a:p>
            <a:r>
              <a:rPr lang="en-US" dirty="0">
                <a:cs typeface="Arial" panose="020B0604020202020204" pitchFamily="34" charset="0"/>
              </a:rPr>
              <a:t>- Miscellaneous: Unwanted column</a:t>
            </a:r>
          </a:p>
          <a:p>
            <a:pPr marL="0" indent="0">
              <a:buNone/>
            </a:pPr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299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26D089-5E70-43E5-B06C-0D795217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cs typeface="Arial" panose="020B0604020202020204" pitchFamily="34" charset="0"/>
              </a:rPr>
              <a:t>Total Revenue Generated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708724-813B-4ABA-90FE-F37D33DB33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latin typeface="+mj-lt"/>
                <a:cs typeface="Arial" panose="020B0604020202020204" pitchFamily="34" charset="0"/>
              </a:rPr>
              <a:t>ANALYSIS:</a:t>
            </a:r>
          </a:p>
          <a:p>
            <a:r>
              <a:rPr lang="en-US" dirty="0">
                <a:cs typeface="Arial" panose="020B0604020202020204" pitchFamily="34" charset="0"/>
              </a:rPr>
              <a:t>- The total revenue gives an overview of the overall performance of Amazon sales.</a:t>
            </a:r>
          </a:p>
          <a:p>
            <a:r>
              <a:rPr lang="en-US" dirty="0">
                <a:cs typeface="Arial" panose="020B0604020202020204" pitchFamily="34" charset="0"/>
              </a:rPr>
              <a:t>- A high total revenue indicates strong demand across multiple product categories and regions.</a:t>
            </a:r>
          </a:p>
          <a:p>
            <a:r>
              <a:rPr lang="en-US" dirty="0">
                <a:cs typeface="Arial" panose="020B0604020202020204" pitchFamily="34" charset="0"/>
              </a:rPr>
              <a:t>- Helps businesses understand the scale of operations and total monetary inflow from customer orders.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95694-4F6C-4AA4-AB4F-6FFC78A3D0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latin typeface="+mj-lt"/>
                <a:cs typeface="Arial" panose="020B0604020202020204" pitchFamily="34" charset="0"/>
              </a:rPr>
              <a:t>CONCLUSION:</a:t>
            </a:r>
          </a:p>
          <a:p>
            <a:r>
              <a:rPr lang="en-US" dirty="0">
                <a:cs typeface="Arial" panose="020B0604020202020204" pitchFamily="34" charset="0"/>
              </a:rPr>
              <a:t>- Amazon generates substantial revenue from its online platform.</a:t>
            </a:r>
          </a:p>
          <a:p>
            <a:r>
              <a:rPr lang="en-US" dirty="0">
                <a:cs typeface="Arial" panose="020B0604020202020204" pitchFamily="34" charset="0"/>
              </a:rPr>
              <a:t>- This metric can help identify overall business growth and assess the effectiveness of sales strategies.</a:t>
            </a:r>
          </a:p>
          <a:p>
            <a:r>
              <a:rPr lang="en-US" dirty="0">
                <a:cs typeface="Arial" panose="020B0604020202020204" pitchFamily="34" charset="0"/>
              </a:rPr>
              <a:t>- Key for management decisions on marketing, inventory, and fulfillment planning.</a:t>
            </a:r>
          </a:p>
        </p:txBody>
      </p:sp>
    </p:spTree>
    <p:extLst>
      <p:ext uri="{BB962C8B-B14F-4D97-AF65-F5344CB8AC3E}">
        <p14:creationId xmlns:p14="http://schemas.microsoft.com/office/powerpoint/2010/main" val="1362348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34CA2-6DE7-48A6-911A-7FC1E64C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2720"/>
            <a:ext cx="3586480" cy="2326641"/>
          </a:xfrm>
        </p:spPr>
        <p:txBody>
          <a:bodyPr/>
          <a:lstStyle/>
          <a:p>
            <a:r>
              <a:rPr lang="en-US" b="1" dirty="0">
                <a:cs typeface="Arial" panose="020B0604020202020204" pitchFamily="34" charset="0"/>
              </a:rPr>
              <a:t>Order Status Distribution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6D68D3-A70C-46C8-A32F-CA1614053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160" y="1253602"/>
            <a:ext cx="7888101" cy="473286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12CC8-D5D2-42D8-9F7C-0B9270342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580640"/>
            <a:ext cx="4074160" cy="4277360"/>
          </a:xfrm>
        </p:spPr>
        <p:txBody>
          <a:bodyPr>
            <a:normAutofit/>
          </a:bodyPr>
          <a:lstStyle/>
          <a:p>
            <a:r>
              <a:rPr lang="en-US" sz="2000" b="1" u="sng" dirty="0">
                <a:cs typeface="Arial" panose="020B0604020202020204" pitchFamily="34" charset="0"/>
              </a:rPr>
              <a:t>ANALYSIS:</a:t>
            </a:r>
          </a:p>
          <a:p>
            <a:r>
              <a:rPr lang="en-US" sz="1800" dirty="0">
                <a:cs typeface="Arial" panose="020B0604020202020204" pitchFamily="34" charset="0"/>
              </a:rPr>
              <a:t>- Counted orders under each status and plotted a bar chart.</a:t>
            </a:r>
          </a:p>
          <a:p>
            <a:r>
              <a:rPr lang="en-US" sz="1800" dirty="0">
                <a:cs typeface="Arial" panose="020B0604020202020204" pitchFamily="34" charset="0"/>
              </a:rPr>
              <a:t>- Helps identify proportion of delivered, cancelled, or returned orders.</a:t>
            </a:r>
          </a:p>
          <a:p>
            <a:r>
              <a:rPr lang="en-US" sz="2000" b="1" u="sng" dirty="0"/>
              <a:t>CONCLUSION:</a:t>
            </a:r>
          </a:p>
          <a:p>
            <a:r>
              <a:rPr lang="en-US" sz="1800" dirty="0"/>
              <a:t>- Most orders are successfully delivered/shipped.</a:t>
            </a:r>
          </a:p>
          <a:p>
            <a:r>
              <a:rPr lang="en-US" sz="1800" dirty="0"/>
              <a:t>- Cancelled and returned orders are minimal, indicating good fulfillment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4045583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3511-B841-4851-8C2F-E51722A2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172720"/>
            <a:ext cx="3535680" cy="2468881"/>
          </a:xfrm>
        </p:spPr>
        <p:txBody>
          <a:bodyPr/>
          <a:lstStyle/>
          <a:p>
            <a:r>
              <a:rPr lang="en-US" b="1" dirty="0">
                <a:cs typeface="Arial" panose="020B0604020202020204" pitchFamily="34" charset="0"/>
              </a:rPr>
              <a:t>Top 10 States by Sales</a:t>
            </a:r>
            <a:br>
              <a:rPr lang="en-US" b="1" dirty="0">
                <a:latin typeface="+mn-lt"/>
                <a:cs typeface="Arial" panose="020B0604020202020204" pitchFamily="34" charset="0"/>
              </a:rPr>
            </a:br>
            <a:endParaRPr lang="en-US" b="1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E0CD84-A706-4F4B-8E1E-1E34AC187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042" y="833718"/>
            <a:ext cx="8032376" cy="502023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3F1E4-33D4-43C5-A9DC-9EC387488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" y="2641601"/>
            <a:ext cx="3952240" cy="4216399"/>
          </a:xfrm>
        </p:spPr>
        <p:txBody>
          <a:bodyPr>
            <a:normAutofit/>
          </a:bodyPr>
          <a:lstStyle/>
          <a:p>
            <a:r>
              <a:rPr lang="en-US" sz="2000" b="1" u="sng" dirty="0">
                <a:cs typeface="Arial" panose="020B0604020202020204" pitchFamily="34" charset="0"/>
              </a:rPr>
              <a:t>ANALYSIS:</a:t>
            </a:r>
          </a:p>
          <a:p>
            <a:r>
              <a:rPr lang="en-US" sz="1800" dirty="0"/>
              <a:t>- Summed sales Amount for each state and sorted top 10.</a:t>
            </a:r>
          </a:p>
          <a:p>
            <a:r>
              <a:rPr lang="en-US" sz="1800" dirty="0"/>
              <a:t>- Reveals which regions contribute most to revenue.</a:t>
            </a:r>
          </a:p>
          <a:p>
            <a:r>
              <a:rPr lang="en-US" sz="2000" b="1" u="sng" dirty="0"/>
              <a:t>Conclusion:</a:t>
            </a:r>
          </a:p>
          <a:p>
            <a:r>
              <a:rPr lang="en-US" sz="1800" dirty="0"/>
              <a:t>- Few major states contribute the highest revenue.</a:t>
            </a:r>
          </a:p>
          <a:p>
            <a:r>
              <a:rPr lang="en-US" sz="1800" dirty="0"/>
              <a:t>- Useful for targeted marketing and inventory planning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1733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CA8C-46E1-4EFA-82CF-5BA5DF609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3657600" cy="2143760"/>
          </a:xfrm>
        </p:spPr>
        <p:txBody>
          <a:bodyPr/>
          <a:lstStyle/>
          <a:p>
            <a:r>
              <a:rPr lang="en-US" b="1" dirty="0"/>
              <a:t>Top 10 Cities by Revenue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6D58A4-C589-4972-B709-35FB6EED6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588" y="936708"/>
            <a:ext cx="7960659" cy="497541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369BF-435A-41F1-AE15-9B90071B7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143761"/>
            <a:ext cx="3657600" cy="4511039"/>
          </a:xfrm>
        </p:spPr>
        <p:txBody>
          <a:bodyPr/>
          <a:lstStyle/>
          <a:p>
            <a:r>
              <a:rPr lang="en-US" sz="2000" b="1" u="sng" dirty="0"/>
              <a:t>ANALYSIS:</a:t>
            </a:r>
          </a:p>
          <a:p>
            <a:r>
              <a:rPr lang="en-US" sz="1800" dirty="0"/>
              <a:t>- Aggregated total sales per city and identified top 10. </a:t>
            </a:r>
          </a:p>
          <a:p>
            <a:r>
              <a:rPr lang="en-US" sz="1800" dirty="0"/>
              <a:t>- Highlights urban areas driving maximum revenue.</a:t>
            </a:r>
          </a:p>
          <a:p>
            <a:r>
              <a:rPr lang="en-US" sz="2000" b="1" u="sng" dirty="0"/>
              <a:t>CONCLUSION:</a:t>
            </a:r>
          </a:p>
          <a:p>
            <a:r>
              <a:rPr lang="en-US" sz="1800" dirty="0"/>
              <a:t>- Metro cities generate the most revenue.</a:t>
            </a:r>
          </a:p>
          <a:p>
            <a:r>
              <a:rPr lang="en-US" sz="1800" dirty="0"/>
              <a:t>- Helps prioritize logistics, marketing, and resource allocation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5581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82D4B-BFEB-4609-882E-BDF5BD33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200400" cy="2286000"/>
          </a:xfrm>
        </p:spPr>
        <p:txBody>
          <a:bodyPr/>
          <a:lstStyle/>
          <a:p>
            <a:r>
              <a:rPr lang="en-US" b="1" dirty="0"/>
              <a:t>Order Trend Over Time</a:t>
            </a:r>
            <a:br>
              <a:rPr lang="en-US" b="1" u="sng" dirty="0"/>
            </a:br>
            <a:endParaRPr lang="en-US" b="1" u="sn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2FE182-5D01-4352-BB5B-A5E565004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393" y="1143000"/>
            <a:ext cx="8013607" cy="392654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A9C7E-E43E-402C-B212-D3783BEED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286000"/>
            <a:ext cx="4064000" cy="4572000"/>
          </a:xfrm>
        </p:spPr>
        <p:txBody>
          <a:bodyPr/>
          <a:lstStyle/>
          <a:p>
            <a:r>
              <a:rPr lang="en-US" sz="2000" b="1" u="sng" dirty="0"/>
              <a:t>ANALYSIS:</a:t>
            </a:r>
          </a:p>
          <a:p>
            <a:r>
              <a:rPr lang="en-US" sz="1800" dirty="0"/>
              <a:t>- Grouped orders by Date and counted number of orders daily.</a:t>
            </a:r>
          </a:p>
          <a:p>
            <a:r>
              <a:rPr lang="en-US" sz="1800" dirty="0"/>
              <a:t>- Plotted line chart to visualize trends.</a:t>
            </a:r>
          </a:p>
          <a:p>
            <a:r>
              <a:rPr lang="en-US" sz="2000" b="1" u="sng" dirty="0"/>
              <a:t>Conclusion: </a:t>
            </a:r>
          </a:p>
          <a:p>
            <a:r>
              <a:rPr lang="en-US" sz="1800" dirty="0"/>
              <a:t>- Orders fluctuate daily with some peak and low days. </a:t>
            </a:r>
          </a:p>
          <a:p>
            <a:r>
              <a:rPr lang="en-US" sz="1800" dirty="0"/>
              <a:t>- Indicates seasonal or campaign-driven trends.</a:t>
            </a:r>
          </a:p>
        </p:txBody>
      </p:sp>
    </p:spTree>
    <p:extLst>
      <p:ext uri="{BB962C8B-B14F-4D97-AF65-F5344CB8AC3E}">
        <p14:creationId xmlns:p14="http://schemas.microsoft.com/office/powerpoint/2010/main" val="710790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991C8-4F8C-4974-AF8F-224CE86B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3505200" cy="2062480"/>
          </a:xfrm>
        </p:spPr>
        <p:txBody>
          <a:bodyPr/>
          <a:lstStyle/>
          <a:p>
            <a:br>
              <a:rPr lang="en-US" dirty="0"/>
            </a:br>
            <a:r>
              <a:rPr lang="en-US" b="1" dirty="0"/>
              <a:t>Top Product Categories by Sales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C782DD-21B5-4A9E-B571-02CB0CAD7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556" y="628703"/>
            <a:ext cx="7899531" cy="493720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62882-72FE-4AB4-8307-CC0AF5070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800" y="2062481"/>
            <a:ext cx="3992880" cy="4795518"/>
          </a:xfrm>
        </p:spPr>
        <p:txBody>
          <a:bodyPr/>
          <a:lstStyle/>
          <a:p>
            <a:r>
              <a:rPr lang="en-US" sz="2000" b="1" u="sng" dirty="0"/>
              <a:t>ANALYSIS:</a:t>
            </a:r>
          </a:p>
          <a:p>
            <a:r>
              <a:rPr lang="en-US" sz="1800" dirty="0"/>
              <a:t>- Summed sales for each product category and plotted top performers.</a:t>
            </a:r>
          </a:p>
          <a:p>
            <a:r>
              <a:rPr lang="en-US" sz="1800" dirty="0"/>
              <a:t>- Identifies high-demand product categories.</a:t>
            </a:r>
          </a:p>
          <a:p>
            <a:r>
              <a:rPr lang="en-US" sz="2000" b="1" u="sng" dirty="0"/>
              <a:t>CONCLUSION: </a:t>
            </a:r>
          </a:p>
          <a:p>
            <a:r>
              <a:rPr lang="en-US" sz="1800" dirty="0"/>
              <a:t>- Few product categories perform much better than others.</a:t>
            </a:r>
          </a:p>
          <a:p>
            <a:r>
              <a:rPr lang="en-US" sz="1800" dirty="0"/>
              <a:t>- Useful for inventory and promotional focus.</a:t>
            </a:r>
          </a:p>
        </p:txBody>
      </p:sp>
    </p:spTree>
    <p:extLst>
      <p:ext uri="{BB962C8B-B14F-4D97-AF65-F5344CB8AC3E}">
        <p14:creationId xmlns:p14="http://schemas.microsoft.com/office/powerpoint/2010/main" val="1258129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C53E8-2F39-467E-9E3C-1F1E82951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200400" cy="2286000"/>
          </a:xfrm>
        </p:spPr>
        <p:txBody>
          <a:bodyPr/>
          <a:lstStyle/>
          <a:p>
            <a:r>
              <a:rPr lang="en-US" b="1" dirty="0"/>
              <a:t>Fulfillment Type Count &amp; Revenue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8B3EC7-202B-4ED4-9689-47D637CB3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555" y="735105"/>
            <a:ext cx="7637931" cy="509195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5880E-8201-40A0-AFFB-AF37CCF2F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286000"/>
            <a:ext cx="4003040" cy="4572000"/>
          </a:xfrm>
        </p:spPr>
        <p:txBody>
          <a:bodyPr/>
          <a:lstStyle/>
          <a:p>
            <a:r>
              <a:rPr lang="en-US" sz="2000" b="1" u="sng" dirty="0"/>
              <a:t>ANALYSIS: </a:t>
            </a:r>
          </a:p>
          <a:p>
            <a:r>
              <a:rPr lang="en-US" sz="1800" dirty="0"/>
              <a:t>- Compared Amazon-fulfilled and Merchant-fulfilled orders in terms of count and revenue. </a:t>
            </a:r>
          </a:p>
          <a:p>
            <a:r>
              <a:rPr lang="en-US" sz="2000" b="1" u="sng" dirty="0"/>
              <a:t>CONCLUSION: </a:t>
            </a:r>
          </a:p>
          <a:p>
            <a:r>
              <a:rPr lang="en-US" sz="1800" dirty="0"/>
              <a:t>- Amazon-fulfilled orders generally perform better overall.</a:t>
            </a:r>
          </a:p>
          <a:p>
            <a:r>
              <a:rPr lang="en-US" sz="1800" dirty="0"/>
              <a:t>- Important for choosing fulfillment strategies.</a:t>
            </a:r>
          </a:p>
        </p:txBody>
      </p:sp>
    </p:spTree>
    <p:extLst>
      <p:ext uri="{BB962C8B-B14F-4D97-AF65-F5344CB8AC3E}">
        <p14:creationId xmlns:p14="http://schemas.microsoft.com/office/powerpoint/2010/main" val="2044221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3B71-D65D-46E9-9649-EACD729C4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324"/>
            <a:ext cx="3200400" cy="2286000"/>
          </a:xfrm>
        </p:spPr>
        <p:txBody>
          <a:bodyPr/>
          <a:lstStyle/>
          <a:p>
            <a:r>
              <a:rPr lang="en-US" b="1" dirty="0"/>
              <a:t>B2B vs Retail Sales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58943F-4A59-42FD-B416-0E06E5CAB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415" y="604379"/>
            <a:ext cx="7901255" cy="526750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90412-7D46-4599-9D8C-BFAB81298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259676"/>
            <a:ext cx="3972560" cy="4598324"/>
          </a:xfrm>
        </p:spPr>
        <p:txBody>
          <a:bodyPr/>
          <a:lstStyle/>
          <a:p>
            <a:r>
              <a:rPr lang="en-US" sz="2000" b="1" u="sng" dirty="0"/>
              <a:t>ANALYSIS:</a:t>
            </a:r>
          </a:p>
          <a:p>
            <a:r>
              <a:rPr lang="en-US" sz="1800" dirty="0"/>
              <a:t>- Separated B2B and retail orders and compared sales revenue.</a:t>
            </a:r>
          </a:p>
          <a:p>
            <a:r>
              <a:rPr lang="en-US" sz="2000" b="1" u="sng" dirty="0"/>
              <a:t>CONCLUSION:</a:t>
            </a:r>
          </a:p>
          <a:p>
            <a:r>
              <a:rPr lang="en-US" sz="1800" dirty="0"/>
              <a:t>- Retail (B2C) orders dominate over B2B.Useful for prioritizing B2C strategies and offers.</a:t>
            </a:r>
          </a:p>
        </p:txBody>
      </p:sp>
    </p:spTree>
    <p:extLst>
      <p:ext uri="{BB962C8B-B14F-4D97-AF65-F5344CB8AC3E}">
        <p14:creationId xmlns:p14="http://schemas.microsoft.com/office/powerpoint/2010/main" val="2546623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F39EA-BB64-4067-90F7-27AB5013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200400" cy="2286000"/>
          </a:xfrm>
        </p:spPr>
        <p:txBody>
          <a:bodyPr/>
          <a:lstStyle/>
          <a:p>
            <a:r>
              <a:rPr lang="en-US" b="1" dirty="0"/>
              <a:t>Most Used Shipping Service Level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C75C70-4C1D-46B3-B838-7C0267A89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231" y="1050698"/>
            <a:ext cx="7969157" cy="498072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71C4E-787F-425E-B6A9-34438E489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2397760"/>
            <a:ext cx="3769360" cy="4460240"/>
          </a:xfrm>
        </p:spPr>
        <p:txBody>
          <a:bodyPr/>
          <a:lstStyle/>
          <a:p>
            <a:r>
              <a:rPr lang="en-US" sz="2000" b="1" u="sng" dirty="0"/>
              <a:t>ANALYSIS:</a:t>
            </a:r>
          </a:p>
          <a:p>
            <a:r>
              <a:rPr lang="en-US" sz="1800" dirty="0"/>
              <a:t>- Counted frequency of each shipping service level.</a:t>
            </a:r>
          </a:p>
          <a:p>
            <a:r>
              <a:rPr lang="en-US" sz="1800" dirty="0"/>
              <a:t>- Visualized to understand shipping preferences.</a:t>
            </a:r>
          </a:p>
          <a:p>
            <a:r>
              <a:rPr lang="en-US" sz="2000" b="1" u="sng" dirty="0"/>
              <a:t>CONCLUSION:</a:t>
            </a:r>
          </a:p>
          <a:p>
            <a:r>
              <a:rPr lang="en-US" sz="1800" dirty="0"/>
              <a:t>- Standard shipping is most frequently used.</a:t>
            </a:r>
          </a:p>
          <a:p>
            <a:r>
              <a:rPr lang="en-US" sz="1800" dirty="0"/>
              <a:t>- Helps plan logistics and delivery timelines efficiently.</a:t>
            </a:r>
          </a:p>
        </p:txBody>
      </p:sp>
    </p:spTree>
    <p:extLst>
      <p:ext uri="{BB962C8B-B14F-4D97-AF65-F5344CB8AC3E}">
        <p14:creationId xmlns:p14="http://schemas.microsoft.com/office/powerpoint/2010/main" val="2791648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C9DD8-4580-409E-AB40-B57C8CF8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Highest Order Amount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3CE62-1223-4688-BCBE-62ACE4DAC2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Analysis:</a:t>
            </a:r>
          </a:p>
          <a:p>
            <a:r>
              <a:rPr lang="en-US" dirty="0"/>
              <a:t>- The highest order amount represents the largest single transaction in the dataset.</a:t>
            </a:r>
          </a:p>
          <a:p>
            <a:r>
              <a:rPr lang="en-US" dirty="0"/>
              <a:t>- Shows which transactions have unusually high value, potentially for premium or bulk purchases. </a:t>
            </a:r>
          </a:p>
          <a:p>
            <a:r>
              <a:rPr lang="en-US" dirty="0"/>
              <a:t>- Important for spotting high-value customers or special deals that contribute significantly to revenue.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115DC-7FB0-4897-87F1-00CF2EEB62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Conclusion: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While most orders are in the small to medium price range, high-value transactions can have a significant impact on overall revenue.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-This insight helps in tailoring premium offers or loyalty programs for high-value customers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5089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EAA7A5-BAD2-4E66-824D-6EECF51C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Final Conclusion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3059F-E951-42B4-AF32-A067C7A4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This project cleaned and structured the Amazon sales dataset, applied data visualization, and extracted actionable business insights.</a:t>
            </a:r>
          </a:p>
          <a:p>
            <a:r>
              <a:rPr lang="en-US" dirty="0"/>
              <a:t>- The analysis helps e-commerce businesses improve sales strategy, fulfillment efficiency, and customer targeting. It also demonstrates valuable Data Analytics skills using Python, Pandas, and visualization tools.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23989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144</TotalTime>
  <Words>942</Words>
  <Application>Microsoft Office PowerPoint</Application>
  <PresentationFormat>Widescreen</PresentationFormat>
  <Paragraphs>113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Retrospect</vt:lpstr>
      <vt:lpstr>Amazon Sales Performance  &amp; Data Analytics Project </vt:lpstr>
      <vt:lpstr>INTRODUCTION</vt:lpstr>
      <vt:lpstr>Objectives</vt:lpstr>
      <vt:lpstr>Skills &amp; Tools Used </vt:lpstr>
      <vt:lpstr>Dataset Description</vt:lpstr>
      <vt:lpstr>Key Attributes</vt:lpstr>
      <vt:lpstr>Total Revenue Generated</vt:lpstr>
      <vt:lpstr>Order Status Distribution</vt:lpstr>
      <vt:lpstr>Top 10 States by Sales </vt:lpstr>
      <vt:lpstr>Top 10 Cities by Revenue </vt:lpstr>
      <vt:lpstr>Order Trend Over Time </vt:lpstr>
      <vt:lpstr> Top Product Categories by Sales </vt:lpstr>
      <vt:lpstr>Fulfillment Type Count &amp; Revenue </vt:lpstr>
      <vt:lpstr>B2B vs Retail Sales </vt:lpstr>
      <vt:lpstr>Most Used Shipping Service Level </vt:lpstr>
      <vt:lpstr>Highest Order Amount</vt:lpstr>
      <vt:lpstr>Final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Performance  &amp; Data Analytics Project</dc:title>
  <dc:creator>Admin</dc:creator>
  <cp:lastModifiedBy>Admin</cp:lastModifiedBy>
  <cp:revision>17</cp:revision>
  <dcterms:created xsi:type="dcterms:W3CDTF">2025-12-26T15:42:08Z</dcterms:created>
  <dcterms:modified xsi:type="dcterms:W3CDTF">2026-02-11T12:27:53Z</dcterms:modified>
</cp:coreProperties>
</file>